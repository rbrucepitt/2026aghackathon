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  <p:sldId id="259" r:id="rId4"/>
    <p:sldId id="257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21" autoAdjust="0"/>
    <p:restoredTop sz="94660"/>
  </p:normalViewPr>
  <p:slideViewPr>
    <p:cSldViewPr snapToGrid="0">
      <p:cViewPr varScale="1">
        <p:scale>
          <a:sx n="78" d="100"/>
          <a:sy n="78" d="100"/>
        </p:scale>
        <p:origin x="15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EF447-7CD0-4DFA-9BB5-DBF6109B3DF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5470C-E07D-48F3-9611-F2F57B1299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61178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EF447-7CD0-4DFA-9BB5-DBF6109B3DF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5470C-E07D-48F3-9611-F2F57B1299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0957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EF447-7CD0-4DFA-9BB5-DBF6109B3DF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5470C-E07D-48F3-9611-F2F57B1299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85021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EF447-7CD0-4DFA-9BB5-DBF6109B3DF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5470C-E07D-48F3-9611-F2F57B1299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9877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EF447-7CD0-4DFA-9BB5-DBF6109B3DF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5470C-E07D-48F3-9611-F2F57B1299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2234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EF447-7CD0-4DFA-9BB5-DBF6109B3DF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5470C-E07D-48F3-9611-F2F57B1299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78555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EF447-7CD0-4DFA-9BB5-DBF6109B3DF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5470C-E07D-48F3-9611-F2F57B1299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42526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EF447-7CD0-4DFA-9BB5-DBF6109B3DF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5470C-E07D-48F3-9611-F2F57B1299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33759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EF447-7CD0-4DFA-9BB5-DBF6109B3DF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5470C-E07D-48F3-9611-F2F57B1299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9128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EF447-7CD0-4DFA-9BB5-DBF6109B3DF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5470C-E07D-48F3-9611-F2F57B1299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32766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EF447-7CD0-4DFA-9BB5-DBF6109B3DF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5470C-E07D-48F3-9611-F2F57B12997A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3941153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EF447-7CD0-4DFA-9BB5-DBF6109B3DF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5470C-E07D-48F3-9611-F2F57B1299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353986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EF447-7CD0-4DFA-9BB5-DBF6109B3DF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5470C-E07D-48F3-9611-F2F57B12997A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30068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EF447-7CD0-4DFA-9BB5-DBF6109B3DF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5470C-E07D-48F3-9611-F2F57B1299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57314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EF447-7CD0-4DFA-9BB5-DBF6109B3DF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5470C-E07D-48F3-9611-F2F57B1299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66578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EF447-7CD0-4DFA-9BB5-DBF6109B3DF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5470C-E07D-48F3-9611-F2F57B1299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2663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0EF447-7CD0-4DFA-9BB5-DBF6109B3DF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0AF5470C-E07D-48F3-9611-F2F57B1299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09920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Green Farm&quot; Images – Browse 31,950 Stock Photos, Vectors, and Video | Adobe  Stock">
            <a:extLst>
              <a:ext uri="{FF2B5EF4-FFF2-40B4-BE49-F238E27FC236}">
                <a16:creationId xmlns:a16="http://schemas.microsoft.com/office/drawing/2014/main" id="{A24B6788-EB3A-448E-FEBF-8783F83D69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42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625" y="0"/>
            <a:ext cx="12096750" cy="6912429"/>
          </a:xfrm>
          <a:prstGeom prst="rect">
            <a:avLst/>
          </a:prstGeom>
          <a:noFill/>
          <a:effectLst>
            <a:glow rad="127000">
              <a:schemeClr val="accent1"/>
            </a:glo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201FBE6-83BA-F664-BB0E-6B19A4F732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057674"/>
            <a:ext cx="9144000" cy="2127073"/>
          </a:xfrm>
        </p:spPr>
        <p:txBody>
          <a:bodyPr>
            <a:normAutofit/>
          </a:bodyPr>
          <a:lstStyle/>
          <a:p>
            <a:pPr algn="ctr"/>
            <a:r>
              <a:rPr lang="en-US" sz="6600" b="1" dirty="0">
                <a:solidFill>
                  <a:schemeClr val="bg1"/>
                </a:solidFill>
                <a:highlight>
                  <a:srgbClr val="008000"/>
                </a:highlight>
              </a:rPr>
              <a:t>Simpler </a:t>
            </a:r>
            <a:r>
              <a:rPr lang="en-US" sz="6600" b="1" dirty="0">
                <a:solidFill>
                  <a:schemeClr val="bg1"/>
                </a:solidFill>
                <a:highlight>
                  <a:srgbClr val="0080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USDA Filings</a:t>
            </a:r>
            <a:r>
              <a:rPr lang="en-US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en-US" sz="6600" b="1" dirty="0">
                <a:solidFill>
                  <a:srgbClr val="FFFF0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 farmers</a:t>
            </a:r>
            <a:endParaRPr lang="en-US" sz="66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C93C55-4636-CAF4-FAB0-F2CA3733F14C}"/>
              </a:ext>
            </a:extLst>
          </p:cNvPr>
          <p:cNvSpPr txBox="1"/>
          <p:nvPr/>
        </p:nvSpPr>
        <p:spPr>
          <a:xfrm>
            <a:off x="9281652" y="5311592"/>
            <a:ext cx="273336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R. Bruce Pitt</a:t>
            </a:r>
          </a:p>
          <a:p>
            <a:pPr algn="ctr"/>
            <a:r>
              <a:rPr lang="en-US" sz="2400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Celia Ameline</a:t>
            </a:r>
          </a:p>
          <a:p>
            <a:pPr algn="ctr"/>
            <a:r>
              <a:rPr lang="en-US" sz="2400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Victor Huang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6D53E48-10A2-D40D-D11C-54A4004817B1}"/>
              </a:ext>
            </a:extLst>
          </p:cNvPr>
          <p:cNvSpPr txBox="1">
            <a:spLocks/>
          </p:cNvSpPr>
          <p:nvPr/>
        </p:nvSpPr>
        <p:spPr>
          <a:xfrm>
            <a:off x="4464757" y="2071230"/>
            <a:ext cx="3629320" cy="9864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r" defTabSz="457200" rtl="0" eaLnBrk="1" latinLnBrk="0" hangingPunct="1">
              <a:spcBef>
                <a:spcPct val="0"/>
              </a:spcBef>
              <a:buNone/>
              <a:defRPr sz="5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sz="5200" b="1" dirty="0">
                <a:solidFill>
                  <a:schemeClr val="accent2">
                    <a:lumMod val="75000"/>
                  </a:schemeClr>
                </a:solidFill>
                <a:latin typeface="Arial Rounded MT Bold" panose="020F0704030504030204" pitchFamily="34" charset="0"/>
              </a:rPr>
              <a:t>green</a:t>
            </a:r>
            <a:r>
              <a:rPr lang="en-US" sz="5200" b="1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5x5</a:t>
            </a:r>
            <a:endParaRPr lang="en-US" sz="5200" b="1" dirty="0">
              <a:solidFill>
                <a:schemeClr val="accent2">
                  <a:lumMod val="50000"/>
                </a:schemeClr>
              </a:solidFill>
              <a:latin typeface="Arial Rounded MT Bold" panose="020F070403050403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BA340D3-A874-1C09-BFF6-E9F7BBD9DD5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0078"/>
          <a:stretch>
            <a:fillRect/>
          </a:stretch>
        </p:blipFill>
        <p:spPr>
          <a:xfrm>
            <a:off x="4920855" y="396220"/>
            <a:ext cx="2701881" cy="2127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35189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C27EAA-DD0A-FC86-E6DC-9BA4D4AE9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9D86DE-5AED-95CA-C111-B217E29DF0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rot="5400000">
            <a:off x="10492340" y="4965976"/>
            <a:ext cx="3003884" cy="347028"/>
          </a:xfrm>
        </p:spPr>
        <p:txBody>
          <a:bodyPr>
            <a:normAutofit fontScale="90000"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green 5X5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DF425A-3B8D-9D48-E9F5-A176CA826FCD}"/>
              </a:ext>
            </a:extLst>
          </p:cNvPr>
          <p:cNvSpPr txBox="1"/>
          <p:nvPr/>
        </p:nvSpPr>
        <p:spPr>
          <a:xfrm>
            <a:off x="225941" y="646402"/>
            <a:ext cx="6525472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endParaRPr lang="en-US" sz="2000" b="1" dirty="0"/>
          </a:p>
          <a:p>
            <a:pPr lvl="1"/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The U.S. Dept of Agriculture (USDA) offers a wealth of expert assistance and financial aid to small farmers.</a:t>
            </a:r>
          </a:p>
          <a:p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Value added agriculture grants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REAP grants for energy assessment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EQIP grants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Poultry &amp; meat processing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LFPP local food promotion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HFFI healthy food financing initiative</a:t>
            </a:r>
          </a:p>
          <a:p>
            <a:pPr lvl="1"/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n-US" sz="2800" b="1" dirty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Filing USDA Form FSA-578 is the key that unlocks these benefits…</a:t>
            </a:r>
          </a:p>
          <a:p>
            <a:pPr lvl="1"/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plus state and county programs in some cases</a:t>
            </a:r>
          </a:p>
        </p:txBody>
      </p:sp>
      <p:pic>
        <p:nvPicPr>
          <p:cNvPr id="1026" name="Picture 2" descr="Farm financing resources for equipment and infrastructure">
            <a:extLst>
              <a:ext uri="{FF2B5EF4-FFF2-40B4-BE49-F238E27FC236}">
                <a16:creationId xmlns:a16="http://schemas.microsoft.com/office/drawing/2014/main" id="{D6E29B33-556A-F159-CF7B-507ACCA1D5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3313" y="1282486"/>
            <a:ext cx="4293027" cy="42930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034736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B5D389-6F2C-8D79-0919-B85EBA0F5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1CA4B39-3911-047F-885B-6091853907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363" y="485335"/>
            <a:ext cx="7618008" cy="588733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F4CF346-E9D1-FDB1-B836-FAD0C7C3C5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rot="5400000">
            <a:off x="10492340" y="4965976"/>
            <a:ext cx="3003884" cy="347028"/>
          </a:xfrm>
        </p:spPr>
        <p:txBody>
          <a:bodyPr>
            <a:normAutofit fontScale="90000"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green 5X5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C7A8B45-D904-5FDA-23D0-1815D6E736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363" y="485336"/>
            <a:ext cx="7534874" cy="5887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07106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A farmer looking at paperwork in a field.">
            <a:extLst>
              <a:ext uri="{FF2B5EF4-FFF2-40B4-BE49-F238E27FC236}">
                <a16:creationId xmlns:a16="http://schemas.microsoft.com/office/drawing/2014/main" id="{CB464815-0473-910E-8BBC-1C76F3A26A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2378" y="800520"/>
            <a:ext cx="4625524" cy="31178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A996F-A7FA-1FA6-3FD4-63FC43CEE8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rot="5400000">
            <a:off x="10492340" y="4965976"/>
            <a:ext cx="3003884" cy="347028"/>
          </a:xfrm>
        </p:spPr>
        <p:txBody>
          <a:bodyPr>
            <a:normAutofit fontScale="90000"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green 5X5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A1A8EE-0B94-4E8A-CDDE-105BCFA253C6}"/>
              </a:ext>
            </a:extLst>
          </p:cNvPr>
          <p:cNvSpPr txBox="1"/>
          <p:nvPr/>
        </p:nvSpPr>
        <p:spPr>
          <a:xfrm>
            <a:off x="344040" y="252861"/>
            <a:ext cx="6525472" cy="49552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accent3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… it’s complicated.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Local USDA office staff used to fill out the form for farmers who made in-person appointments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12+ offices have been closed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2,600 experts eliminated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Traveling 100+ miles is not practical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Scheduling an appointment now takes months</a:t>
            </a:r>
          </a:p>
          <a:p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Filing on the government website is intimidating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Commercial services are expensive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$250 per field per harvest (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MyAg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sz="2000" dirty="0"/>
              <a:t>$2,495 license (PARS by Profit.ag)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D673AB-810A-63AC-9640-3831E3DCD37F}"/>
              </a:ext>
            </a:extLst>
          </p:cNvPr>
          <p:cNvSpPr txBox="1"/>
          <p:nvPr/>
        </p:nvSpPr>
        <p:spPr>
          <a:xfrm>
            <a:off x="575034" y="5562975"/>
            <a:ext cx="781799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Our web app makes it easier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6925E8-264B-D0A8-C31E-645D04ECD041}"/>
              </a:ext>
            </a:extLst>
          </p:cNvPr>
          <p:cNvSpPr txBox="1"/>
          <p:nvPr/>
        </p:nvSpPr>
        <p:spPr>
          <a:xfrm>
            <a:off x="344040" y="5008009"/>
            <a:ext cx="86874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State and county staff don’t have the right systems to help</a:t>
            </a:r>
          </a:p>
        </p:txBody>
      </p:sp>
    </p:spTree>
    <p:extLst>
      <p:ext uri="{BB962C8B-B14F-4D97-AF65-F5344CB8AC3E}">
        <p14:creationId xmlns:p14="http://schemas.microsoft.com/office/powerpoint/2010/main" val="27131659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911A09-D145-A248-CB18-3CE85A87EA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92231" y="822364"/>
            <a:ext cx="1784512" cy="742485"/>
          </a:xfrm>
        </p:spPr>
        <p:txBody>
          <a:bodyPr/>
          <a:lstStyle/>
          <a:p>
            <a:pPr algn="ctr"/>
            <a:r>
              <a:rPr lang="en-US" b="1" dirty="0">
                <a:solidFill>
                  <a:schemeClr val="accent4">
                    <a:lumMod val="75000"/>
                  </a:schemeClr>
                </a:solidFill>
              </a:rPr>
              <a:t>DEMO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CF0D70F-01A7-DA63-2E14-1E4E6803A2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4156" y="1777984"/>
            <a:ext cx="7511493" cy="3954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17433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DB1556-CB4B-C710-9A84-8090B5D73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B6C90-DE3D-D87D-1DC4-6061D63440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rot="5400000">
            <a:off x="10492340" y="4965976"/>
            <a:ext cx="3003884" cy="347028"/>
          </a:xfrm>
        </p:spPr>
        <p:txBody>
          <a:bodyPr>
            <a:normAutofit fontScale="90000"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green 5X5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3C809F-5F33-0C6F-6C15-7C271CA9E902}"/>
              </a:ext>
            </a:extLst>
          </p:cNvPr>
          <p:cNvSpPr txBox="1"/>
          <p:nvPr/>
        </p:nvSpPr>
        <p:spPr>
          <a:xfrm>
            <a:off x="744168" y="384661"/>
            <a:ext cx="8012169" cy="60324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MVP features</a:t>
            </a:r>
          </a:p>
          <a:p>
            <a:endParaRPr lang="en-US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Links to USDA initial registration steps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Allow easy field mapping and crop info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Reuse data for multiple forms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Track key dates for submission and generate reminders</a:t>
            </a:r>
          </a:p>
          <a:p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Business model</a:t>
            </a:r>
          </a:p>
          <a:p>
            <a:endParaRPr lang="en-US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Free filing for small farms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Funded by state &amp; county Economic Development grants and non-profit foundations in New Mexico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Farmers can access &amp; file themselves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Or get help from state &amp; county offices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4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Expansion</a:t>
            </a:r>
          </a:p>
          <a:p>
            <a:endParaRPr lang="en-US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Filing other forms, guiding grant applications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Partnering with more locations, insurance agents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Targeted advertising</a:t>
            </a:r>
          </a:p>
        </p:txBody>
      </p:sp>
    </p:spTree>
    <p:extLst>
      <p:ext uri="{BB962C8B-B14F-4D97-AF65-F5344CB8AC3E}">
        <p14:creationId xmlns:p14="http://schemas.microsoft.com/office/powerpoint/2010/main" val="2255799835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365</TotalTime>
  <Words>261</Words>
  <Application>Microsoft Office PowerPoint</Application>
  <PresentationFormat>Widescreen</PresentationFormat>
  <Paragraphs>57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Arial</vt:lpstr>
      <vt:lpstr>Arial Rounded MT Bold</vt:lpstr>
      <vt:lpstr>Courier New</vt:lpstr>
      <vt:lpstr>Trebuchet MS</vt:lpstr>
      <vt:lpstr>Wingdings</vt:lpstr>
      <vt:lpstr>Wingdings 3</vt:lpstr>
      <vt:lpstr>Facet</vt:lpstr>
      <vt:lpstr>Simpler USDA Filings  for farmers</vt:lpstr>
      <vt:lpstr>green 5X5 </vt:lpstr>
      <vt:lpstr>green 5X5 </vt:lpstr>
      <vt:lpstr>green 5X5 </vt:lpstr>
      <vt:lpstr>DEMO</vt:lpstr>
      <vt:lpstr>green 5X5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R. Bruce Pitt</dc:creator>
  <cp:lastModifiedBy>Celia Ameline</cp:lastModifiedBy>
  <cp:revision>36</cp:revision>
  <dcterms:created xsi:type="dcterms:W3CDTF">2026-04-18T18:38:42Z</dcterms:created>
  <dcterms:modified xsi:type="dcterms:W3CDTF">2026-04-19T19:29:38Z</dcterms:modified>
</cp:coreProperties>
</file>