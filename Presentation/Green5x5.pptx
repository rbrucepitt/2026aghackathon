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1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9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0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7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2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5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7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941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3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0068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73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7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6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EF447-7CD0-4DFA-9BB5-DBF6109B3DF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AF5470C-E07D-48F3-9611-F2F57B129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9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n Farm&quot; Images – Browse 31,950 Stock Photos, Vectors, and Video | Adobe  Stock">
            <a:extLst>
              <a:ext uri="{FF2B5EF4-FFF2-40B4-BE49-F238E27FC236}">
                <a16:creationId xmlns:a16="http://schemas.microsoft.com/office/drawing/2014/main" id="{A24B6788-EB3A-448E-FEBF-8783F83D6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0"/>
            <a:ext cx="12096750" cy="6912429"/>
          </a:xfrm>
          <a:prstGeom prst="rect">
            <a:avLst/>
          </a:prstGeom>
          <a:noFill/>
          <a:effectLst>
            <a:glow rad="127000">
              <a:schemeClr val="accent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01FBE6-83BA-F664-BB0E-6B19A4F73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8746"/>
            <a:ext cx="9144000" cy="212707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FFFF00"/>
                </a:solidFill>
              </a:rPr>
              <a:t>simpler </a:t>
            </a:r>
            <a:r>
              <a:rPr lang="en-US" sz="6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USDA filings </a:t>
            </a:r>
            <a:br>
              <a:rPr lang="en-US" sz="6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farmers</a:t>
            </a:r>
            <a:endParaRPr lang="en-US" sz="66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93C55-4636-CAF4-FAB0-F2CA3733F14C}"/>
              </a:ext>
            </a:extLst>
          </p:cNvPr>
          <p:cNvSpPr txBox="1"/>
          <p:nvPr/>
        </p:nvSpPr>
        <p:spPr>
          <a:xfrm>
            <a:off x="4103971" y="5236177"/>
            <a:ext cx="43211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R. Bruce Pitt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Celia Ameline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Victor Huang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D53E48-10A2-D40D-D11C-54A4004817B1}"/>
              </a:ext>
            </a:extLst>
          </p:cNvPr>
          <p:cNvSpPr txBox="1">
            <a:spLocks/>
          </p:cNvSpPr>
          <p:nvPr/>
        </p:nvSpPr>
        <p:spPr>
          <a:xfrm>
            <a:off x="1524000" y="187465"/>
            <a:ext cx="9144000" cy="14829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6800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green 5x5</a:t>
            </a:r>
            <a:endParaRPr lang="en-US" sz="4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51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7EAA-DD0A-FC86-E6DC-9BA4D4AE9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86DE-5AED-95CA-C111-B217E29DF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10492340" y="4965976"/>
            <a:ext cx="3003884" cy="3470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GREENER 5X5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F425A-3B8D-9D48-E9F5-A176CA826FCD}"/>
              </a:ext>
            </a:extLst>
          </p:cNvPr>
          <p:cNvSpPr txBox="1"/>
          <p:nvPr/>
        </p:nvSpPr>
        <p:spPr>
          <a:xfrm>
            <a:off x="225941" y="646402"/>
            <a:ext cx="65254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U.S. Dept of Agriculture (USDA) offers a wealth of expert assistance and financial aid to small farmers.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Value added agriculture grants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REAP grants for energy assessment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EQIP grants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Poultry &amp; meat processing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LFPP local food promotion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HFFI healthy food financing initiative</a:t>
            </a:r>
          </a:p>
          <a:p>
            <a:pPr lvl="1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Filing USDA Form FSA-578 is the key that unlocks these benefits…</a:t>
            </a:r>
          </a:p>
          <a:p>
            <a:pPr lvl="1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plus state and county programs in some cases</a:t>
            </a:r>
          </a:p>
        </p:txBody>
      </p:sp>
      <p:pic>
        <p:nvPicPr>
          <p:cNvPr id="1026" name="Picture 2" descr="Farm financing resources for equipment and infrastructure">
            <a:extLst>
              <a:ext uri="{FF2B5EF4-FFF2-40B4-BE49-F238E27FC236}">
                <a16:creationId xmlns:a16="http://schemas.microsoft.com/office/drawing/2014/main" id="{D6E29B33-556A-F159-CF7B-507ACCA1D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313" y="1282486"/>
            <a:ext cx="4293027" cy="4293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47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D389-6F2C-8D79-0919-B85EBA0F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CA4B39-3911-047F-885B-609185390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63" y="485335"/>
            <a:ext cx="7618008" cy="58873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4CF346-E9D1-FDB1-B836-FAD0C7C3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10492340" y="4965976"/>
            <a:ext cx="3003884" cy="3470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GREENER 5X5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7A8B45-D904-5FDA-23D0-1815D6E73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63" y="485336"/>
            <a:ext cx="7534874" cy="58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1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farmer looking at paperwork in a field.">
            <a:extLst>
              <a:ext uri="{FF2B5EF4-FFF2-40B4-BE49-F238E27FC236}">
                <a16:creationId xmlns:a16="http://schemas.microsoft.com/office/drawing/2014/main" id="{CB464815-0473-910E-8BBC-1C76F3A26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378" y="800520"/>
            <a:ext cx="4625524" cy="311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A996F-A7FA-1FA6-3FD4-63FC43CE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10492340" y="4965976"/>
            <a:ext cx="3003884" cy="3470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GREENER 5X5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1A8EE-0B94-4E8A-CDDE-105BCFA253C6}"/>
              </a:ext>
            </a:extLst>
          </p:cNvPr>
          <p:cNvSpPr txBox="1"/>
          <p:nvPr/>
        </p:nvSpPr>
        <p:spPr>
          <a:xfrm>
            <a:off x="344040" y="252861"/>
            <a:ext cx="65254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 it’s complicated.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Local USDA office staff used to fill out the form for farmers who made in-person appointments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12+ offices have been closed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2,600 experts eliminated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Traveling 100+ miles is not practical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Filing on the government website is intimidating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Commercial services are expensive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$250 per field per harvest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MyAg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$2,495 license (PARS by Profit.ag)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State and county staff don’t have the right systems to help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673AB-810A-63AC-9640-3831E3DCD37F}"/>
              </a:ext>
            </a:extLst>
          </p:cNvPr>
          <p:cNvSpPr txBox="1"/>
          <p:nvPr/>
        </p:nvSpPr>
        <p:spPr>
          <a:xfrm>
            <a:off x="575034" y="5562975"/>
            <a:ext cx="78179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web app makes it easier</a:t>
            </a:r>
          </a:p>
        </p:txBody>
      </p:sp>
    </p:spTree>
    <p:extLst>
      <p:ext uri="{BB962C8B-B14F-4D97-AF65-F5344CB8AC3E}">
        <p14:creationId xmlns:p14="http://schemas.microsoft.com/office/powerpoint/2010/main" val="271316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1A09-D145-A248-CB18-3CE85A87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231" y="822364"/>
            <a:ext cx="1784512" cy="74248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0D70F-01A7-DA63-2E14-1E4E6803A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156" y="1777984"/>
            <a:ext cx="7511493" cy="395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4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1556-CB4B-C710-9A84-8090B5D7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6C90-DE3D-D87D-1DC4-6061D6344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10492340" y="4965976"/>
            <a:ext cx="3003884" cy="34702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GREEN 5X5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C809F-5F33-0C6F-6C15-7C271CA9E902}"/>
              </a:ext>
            </a:extLst>
          </p:cNvPr>
          <p:cNvSpPr txBox="1"/>
          <p:nvPr/>
        </p:nvSpPr>
        <p:spPr>
          <a:xfrm>
            <a:off x="744168" y="384661"/>
            <a:ext cx="8012169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 features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Links to USDA initial registration steps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 easy field mapping and crop info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Reuse data for multiple forms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Track key dates for submission and generate reminders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Free filing for small farms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Funded by state &amp; county Economic Development grants and non-profit foundations in New Mexico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Farmers can access &amp; file themselves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Or get help from state &amp; county offices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Expansion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Filing other forms, guiding grant applications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Partnering with more locations, insurance agents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Targeted advertising</a:t>
            </a:r>
          </a:p>
        </p:txBody>
      </p:sp>
    </p:spTree>
    <p:extLst>
      <p:ext uri="{BB962C8B-B14F-4D97-AF65-F5344CB8AC3E}">
        <p14:creationId xmlns:p14="http://schemas.microsoft.com/office/powerpoint/2010/main" val="22557998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323</TotalTime>
  <Words>256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Rounded MT Bold</vt:lpstr>
      <vt:lpstr>Courier New</vt:lpstr>
      <vt:lpstr>Trebuchet MS</vt:lpstr>
      <vt:lpstr>Wingdings</vt:lpstr>
      <vt:lpstr>Wingdings 3</vt:lpstr>
      <vt:lpstr>Facet</vt:lpstr>
      <vt:lpstr>simpler USDA filings  for farmers</vt:lpstr>
      <vt:lpstr>GREENER 5X5 </vt:lpstr>
      <vt:lpstr>GREENER 5X5 </vt:lpstr>
      <vt:lpstr>GREENER 5X5 </vt:lpstr>
      <vt:lpstr>DEMO</vt:lpstr>
      <vt:lpstr>GREEN 5X5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R. Bruce Pitt</dc:creator>
  <cp:lastModifiedBy>Celia Ameline</cp:lastModifiedBy>
  <cp:revision>29</cp:revision>
  <dcterms:created xsi:type="dcterms:W3CDTF">2026-04-18T18:38:42Z</dcterms:created>
  <dcterms:modified xsi:type="dcterms:W3CDTF">2026-04-19T07:20:04Z</dcterms:modified>
</cp:coreProperties>
</file>