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>
        <p:scale>
          <a:sx n="60" d="100"/>
          <a:sy n="60" d="100"/>
        </p:scale>
        <p:origin x="55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17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95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02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877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23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855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252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375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12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7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94115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398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30068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5731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6578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2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0EF447-7CD0-4DFA-9BB5-DBF6109B3DF9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AF5470C-E07D-48F3-9611-F2F57B1299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99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een Farm&quot; Images – Browse 31,950 Stock Photos, Vectors, and Video | Adobe  Stock">
            <a:extLst>
              <a:ext uri="{FF2B5EF4-FFF2-40B4-BE49-F238E27FC236}">
                <a16:creationId xmlns:a16="http://schemas.microsoft.com/office/drawing/2014/main" id="{A24B6788-EB3A-448E-FEBF-8783F83D6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5" y="0"/>
            <a:ext cx="12096750" cy="6912429"/>
          </a:xfrm>
          <a:prstGeom prst="rect">
            <a:avLst/>
          </a:prstGeom>
          <a:noFill/>
          <a:effectLst>
            <a:glow rad="127000">
              <a:schemeClr val="accent1"/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01FBE6-83BA-F664-BB0E-6B19A4F73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4874" y="1530326"/>
            <a:ext cx="9144000" cy="238760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6600" b="1" dirty="0">
                <a:solidFill>
                  <a:schemeClr val="tx1"/>
                </a:solidFill>
              </a:rPr>
              <a:t>Team: Greener5X5</a:t>
            </a:r>
            <a:br>
              <a:rPr lang="en-US" sz="6600" b="1" dirty="0">
                <a:solidFill>
                  <a:schemeClr val="tx1"/>
                </a:solidFill>
              </a:rPr>
            </a:br>
            <a:r>
              <a:rPr lang="en-US" sz="4900" b="1" dirty="0">
                <a:solidFill>
                  <a:schemeClr val="tx1"/>
                </a:solidFill>
              </a:rPr>
              <a:t>(formerly: 5x5FCS578)</a:t>
            </a:r>
            <a:br>
              <a:rPr lang="en-US" sz="4900" b="1" dirty="0">
                <a:solidFill>
                  <a:schemeClr val="tx1"/>
                </a:solidFill>
              </a:rPr>
            </a:br>
            <a:br>
              <a:rPr lang="en-US" sz="6600" b="1" dirty="0">
                <a:solidFill>
                  <a:schemeClr val="tx1"/>
                </a:solidFill>
              </a:rPr>
            </a:br>
            <a:r>
              <a:rPr lang="en-US" sz="6600" b="1" dirty="0">
                <a:solidFill>
                  <a:schemeClr val="tx1"/>
                </a:solidFill>
              </a:rPr>
              <a:t>USDA Report of Acreage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93C55-4636-CAF4-FAB0-F2CA3733F14C}"/>
              </a:ext>
            </a:extLst>
          </p:cNvPr>
          <p:cNvSpPr txBox="1"/>
          <p:nvPr/>
        </p:nvSpPr>
        <p:spPr>
          <a:xfrm>
            <a:off x="4386775" y="4656405"/>
            <a:ext cx="43211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Celia Ameline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</a:rPr>
              <a:t>R. Bruce Pitt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</a:rPr>
              <a:t>Victor Huang</a:t>
            </a:r>
          </a:p>
        </p:txBody>
      </p:sp>
    </p:spTree>
    <p:extLst>
      <p:ext uri="{BB962C8B-B14F-4D97-AF65-F5344CB8AC3E}">
        <p14:creationId xmlns:p14="http://schemas.microsoft.com/office/powerpoint/2010/main" val="1273518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 farmer looking at paperwork in a field.">
            <a:extLst>
              <a:ext uri="{FF2B5EF4-FFF2-40B4-BE49-F238E27FC236}">
                <a16:creationId xmlns:a16="http://schemas.microsoft.com/office/drawing/2014/main" id="{CB464815-0473-910E-8BBC-1C76F3A26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378" y="800520"/>
            <a:ext cx="4625524" cy="3117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A996F-A7FA-1FA6-3FD4-63FC43CEE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10492340" y="4965976"/>
            <a:ext cx="3003884" cy="347028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GREENER 5X5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1A8EE-0B94-4E8A-CDDE-105BCFA253C6}"/>
              </a:ext>
            </a:extLst>
          </p:cNvPr>
          <p:cNvSpPr txBox="1"/>
          <p:nvPr/>
        </p:nvSpPr>
        <p:spPr>
          <a:xfrm>
            <a:off x="344040" y="920621"/>
            <a:ext cx="6525472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What we are building is a digital, easy to use and file form FSA-578 form to help New Mexico’s $4B ag economy get and stay online.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New Mexico’s agricultural infrastructure has lost one-fourth of its human capital in just 12 months. With 12+ offices closing and 2,600 experts gone.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To file these forms the old manual, visit to an office could not require up to a 100-mile drive by the farmer.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sz="20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000" b="1" dirty="0"/>
              <a:t>This form can be filed online, but the formats the government accepts is very specific and complicated (XML) and any single mistake will cause it to be rejected.</a:t>
            </a:r>
          </a:p>
        </p:txBody>
      </p:sp>
    </p:spTree>
    <p:extLst>
      <p:ext uri="{BB962C8B-B14F-4D97-AF65-F5344CB8AC3E}">
        <p14:creationId xmlns:p14="http://schemas.microsoft.com/office/powerpoint/2010/main" val="271316596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179</TotalTime>
  <Words>136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Trebuchet MS</vt:lpstr>
      <vt:lpstr>Wingdings</vt:lpstr>
      <vt:lpstr>Wingdings 3</vt:lpstr>
      <vt:lpstr>Facet</vt:lpstr>
      <vt:lpstr>Team: Greener5X5 (formerly: 5x5FCS578)  USDA Report of Acreage</vt:lpstr>
      <vt:lpstr>GREENER 5X5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R. Bruce Pitt</dc:creator>
  <cp:lastModifiedBy>R. Bruce Pitt</cp:lastModifiedBy>
  <cp:revision>4</cp:revision>
  <dcterms:created xsi:type="dcterms:W3CDTF">2026-04-18T18:38:42Z</dcterms:created>
  <dcterms:modified xsi:type="dcterms:W3CDTF">2026-04-18T21:37:57Z</dcterms:modified>
</cp:coreProperties>
</file>