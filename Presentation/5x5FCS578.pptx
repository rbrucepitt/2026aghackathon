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17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95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502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877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23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55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52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75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1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7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9411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39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0068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73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57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66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99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een Farm&quot; Images – Browse 31,950 Stock Photos, Vectors, and Video | Adobe  Stock">
            <a:extLst>
              <a:ext uri="{FF2B5EF4-FFF2-40B4-BE49-F238E27FC236}">
                <a16:creationId xmlns:a16="http://schemas.microsoft.com/office/drawing/2014/main" id="{A24B6788-EB3A-448E-FEBF-8783F83D6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0"/>
            <a:ext cx="12096750" cy="6912429"/>
          </a:xfrm>
          <a:prstGeom prst="rect">
            <a:avLst/>
          </a:prstGeom>
          <a:noFill/>
          <a:effectLst>
            <a:glow rad="127000">
              <a:schemeClr val="accent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01FBE6-83BA-F664-BB0E-6B19A4F73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4874" y="1530326"/>
            <a:ext cx="9144000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b="1" dirty="0">
                <a:solidFill>
                  <a:schemeClr val="tx1"/>
                </a:solidFill>
              </a:rPr>
              <a:t>Team: Greener5X5</a:t>
            </a:r>
            <a:br>
              <a:rPr lang="en-US" sz="6600" b="1" dirty="0">
                <a:solidFill>
                  <a:schemeClr val="tx1"/>
                </a:solidFill>
              </a:rPr>
            </a:br>
            <a:r>
              <a:rPr lang="en-US" sz="4900" b="1" dirty="0">
                <a:solidFill>
                  <a:schemeClr val="tx1"/>
                </a:solidFill>
              </a:rPr>
              <a:t>(formerly: 5x5FCS578)</a:t>
            </a:r>
            <a:br>
              <a:rPr lang="en-US" sz="4900" b="1" dirty="0">
                <a:solidFill>
                  <a:schemeClr val="tx1"/>
                </a:solidFill>
              </a:rPr>
            </a:br>
            <a:br>
              <a:rPr lang="en-US" sz="6600" b="1" dirty="0">
                <a:solidFill>
                  <a:schemeClr val="tx1"/>
                </a:solidFill>
              </a:rPr>
            </a:br>
            <a:r>
              <a:rPr lang="en-US" sz="6600" b="1" dirty="0">
                <a:solidFill>
                  <a:schemeClr val="tx1"/>
                </a:solidFill>
              </a:rPr>
              <a:t>USDA Report of Acreage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93C55-4636-CAF4-FAB0-F2CA3733F14C}"/>
              </a:ext>
            </a:extLst>
          </p:cNvPr>
          <p:cNvSpPr txBox="1"/>
          <p:nvPr/>
        </p:nvSpPr>
        <p:spPr>
          <a:xfrm>
            <a:off x="4386775" y="4656405"/>
            <a:ext cx="43211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Celia Ameline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R. Bruce Pitt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Victor Huang</a:t>
            </a:r>
          </a:p>
        </p:txBody>
      </p:sp>
    </p:spTree>
    <p:extLst>
      <p:ext uri="{BB962C8B-B14F-4D97-AF65-F5344CB8AC3E}">
        <p14:creationId xmlns:p14="http://schemas.microsoft.com/office/powerpoint/2010/main" val="1273518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farmer looking at paperwork in a field.">
            <a:extLst>
              <a:ext uri="{FF2B5EF4-FFF2-40B4-BE49-F238E27FC236}">
                <a16:creationId xmlns:a16="http://schemas.microsoft.com/office/drawing/2014/main" id="{CB464815-0473-910E-8BBC-1C76F3A26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378" y="800520"/>
            <a:ext cx="4625524" cy="3117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A996F-A7FA-1FA6-3FD4-63FC43CEE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10492340" y="4965976"/>
            <a:ext cx="3003884" cy="347028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GREENER 5X5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A1A8EE-0B94-4E8A-CDDE-105BCFA253C6}"/>
              </a:ext>
            </a:extLst>
          </p:cNvPr>
          <p:cNvSpPr txBox="1"/>
          <p:nvPr/>
        </p:nvSpPr>
        <p:spPr>
          <a:xfrm>
            <a:off x="344040" y="714775"/>
            <a:ext cx="652547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What we are building is a digital, easy to use and file, form FSA-578 to help New Mexico’s small farmers get and stay online.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New Mexico’s agricultural infrastructure has lost one-fourth of its human capital in just 12 months. With 12+ offices closing and 2,600 experts gone.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To file these forms the old way, a farmer must make an appointment at a local office to manually certify the form or use their kiosks which could be 100 miles away.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However, this form can be filed online, but the formats the government accepts are very specific and complicated (JSON/XML/SHP) and any single mistake will cause it to be rejected it.</a:t>
            </a:r>
          </a:p>
        </p:txBody>
      </p:sp>
    </p:spTree>
    <p:extLst>
      <p:ext uri="{BB962C8B-B14F-4D97-AF65-F5344CB8AC3E}">
        <p14:creationId xmlns:p14="http://schemas.microsoft.com/office/powerpoint/2010/main" val="2713165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7EAA-DD0A-FC86-E6DC-9BA4D4AE9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D86DE-5AED-95CA-C111-B217E29DF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10492340" y="4965976"/>
            <a:ext cx="3003884" cy="347028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GREENER 5X5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DF425A-3B8D-9D48-E9F5-A176CA826FCD}"/>
              </a:ext>
            </a:extLst>
          </p:cNvPr>
          <p:cNvSpPr txBox="1"/>
          <p:nvPr/>
        </p:nvSpPr>
        <p:spPr>
          <a:xfrm>
            <a:off x="225941" y="558755"/>
            <a:ext cx="652547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Filing this specific form opens up a vast amount of government resources, grants, insurance, and tax advantages for the farmer.</a:t>
            </a:r>
          </a:p>
          <a:p>
            <a:endParaRPr lang="en-US" sz="2000" b="1" dirty="0"/>
          </a:p>
          <a:p>
            <a:pPr lvl="1"/>
            <a:r>
              <a:rPr lang="en-US" sz="2000" b="1" dirty="0"/>
              <a:t>-	Value added agriculture grants</a:t>
            </a:r>
          </a:p>
          <a:p>
            <a:pPr lvl="1"/>
            <a:r>
              <a:rPr lang="en-US" sz="2000" b="1" dirty="0"/>
              <a:t>-	REAP grants (energy assessment)</a:t>
            </a:r>
          </a:p>
          <a:p>
            <a:pPr lvl="1"/>
            <a:r>
              <a:rPr lang="en-US" sz="2000" b="1" dirty="0"/>
              <a:t>-	EQIP grants</a:t>
            </a:r>
          </a:p>
          <a:p>
            <a:pPr lvl="1"/>
            <a:r>
              <a:rPr lang="en-US" sz="2000" b="1" dirty="0"/>
              <a:t>-	Poultry &amp; meat processing grants</a:t>
            </a:r>
          </a:p>
          <a:p>
            <a:pPr lvl="1"/>
            <a:r>
              <a:rPr lang="en-US" sz="2000" b="1" dirty="0"/>
              <a:t>-	LFPP local food promotion</a:t>
            </a:r>
          </a:p>
          <a:p>
            <a:pPr lvl="1"/>
            <a:r>
              <a:rPr lang="en-US" sz="2000" b="1" dirty="0"/>
              <a:t>-	HFFI healthy food financing initiative grants</a:t>
            </a:r>
          </a:p>
          <a:p>
            <a:pPr marL="800100" lvl="1" indent="-342900">
              <a:buFontTx/>
              <a:buChar char="-"/>
            </a:pPr>
            <a:r>
              <a:rPr lang="en-US" sz="2000" b="1" dirty="0"/>
              <a:t>  and others….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This form is accepted by almost all county and state agencies in New Mexico.</a:t>
            </a:r>
          </a:p>
          <a:p>
            <a:endParaRPr lang="en-US" sz="2000" b="1" dirty="0"/>
          </a:p>
        </p:txBody>
      </p:sp>
      <p:pic>
        <p:nvPicPr>
          <p:cNvPr id="1026" name="Picture 2" descr="Farm financing resources for equipment and infrastructure">
            <a:extLst>
              <a:ext uri="{FF2B5EF4-FFF2-40B4-BE49-F238E27FC236}">
                <a16:creationId xmlns:a16="http://schemas.microsoft.com/office/drawing/2014/main" id="{D6E29B33-556A-F159-CF7B-507ACCA1D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189" y="1282486"/>
            <a:ext cx="4293027" cy="4293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3473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5D389-6F2C-8D79-0919-B85EBA0F5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CA4B39-3911-047F-885B-609185390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363" y="485335"/>
            <a:ext cx="7618008" cy="58873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4CF346-E9D1-FDB1-B836-FAD0C7C3C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10492340" y="4965976"/>
            <a:ext cx="3003884" cy="347028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GREENER 5X5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7A8B45-D904-5FDA-23D0-1815D6E736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363" y="485336"/>
            <a:ext cx="7534874" cy="588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71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11A09-D145-A248-CB18-3CE85A87E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647" y="935486"/>
            <a:ext cx="1784512" cy="1320800"/>
          </a:xfrm>
        </p:spPr>
        <p:txBody>
          <a:bodyPr/>
          <a:lstStyle/>
          <a:p>
            <a:r>
              <a:rPr lang="en-US" b="1" dirty="0"/>
              <a:t>DEMO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F0D70F-01A7-DA63-2E14-1E4E6803A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156" y="1777984"/>
            <a:ext cx="7511493" cy="395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743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B1556-CB4B-C710-9A84-8090B5D73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B6C90-DE3D-D87D-1DC4-6061D6344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10492340" y="4965976"/>
            <a:ext cx="3003884" cy="347028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GREENER 5X5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3C809F-5F33-0C6F-6C15-7C271CA9E902}"/>
              </a:ext>
            </a:extLst>
          </p:cNvPr>
          <p:cNvSpPr txBox="1"/>
          <p:nvPr/>
        </p:nvSpPr>
        <p:spPr>
          <a:xfrm>
            <a:off x="442511" y="2449130"/>
            <a:ext cx="801216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Goals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Make it easy for farmers to use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Eliminate visits to the USDA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Generate complicated submission data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Track key dates for submission and generate reminders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Allow easy field location and crop info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Allow duplicate data to be used on multiple forms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Walk throughs/Links on USDA access/forms generation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Free to NM Farmers under a certain size (10 Acres??)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endParaRPr lang="en-US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DC1122-DE4B-66C8-8855-4E86D57125F5}"/>
              </a:ext>
            </a:extLst>
          </p:cNvPr>
          <p:cNvSpPr txBox="1"/>
          <p:nvPr/>
        </p:nvSpPr>
        <p:spPr>
          <a:xfrm>
            <a:off x="442511" y="0"/>
            <a:ext cx="801216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Competition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dirty="0" err="1"/>
              <a:t>MyAgData</a:t>
            </a:r>
            <a:r>
              <a:rPr lang="en-US" sz="2000" dirty="0"/>
              <a:t> - $250/report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2000" dirty="0"/>
              <a:t>Pulls data from John Deer, Case IH, others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dirty="0"/>
              <a:t>Profit.ag - $2,495 for lifetime access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2000" dirty="0"/>
              <a:t>PARS (Precision Acreage Reporting System)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Local FSA Service Centers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5579983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243</TotalTime>
  <Words>340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Trebuchet MS</vt:lpstr>
      <vt:lpstr>Wingdings</vt:lpstr>
      <vt:lpstr>Wingdings 3</vt:lpstr>
      <vt:lpstr>Facet</vt:lpstr>
      <vt:lpstr>Team: Greener5X5 (formerly: 5x5FCS578)  USDA Report of Acreage</vt:lpstr>
      <vt:lpstr>GREENER 5X5 </vt:lpstr>
      <vt:lpstr>GREENER 5X5 </vt:lpstr>
      <vt:lpstr>GREENER 5X5 </vt:lpstr>
      <vt:lpstr>DEMO</vt:lpstr>
      <vt:lpstr>GREENER 5X5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R. Bruce Pitt</dc:creator>
  <cp:lastModifiedBy>R. Bruce Pitt</cp:lastModifiedBy>
  <cp:revision>14</cp:revision>
  <dcterms:created xsi:type="dcterms:W3CDTF">2026-04-18T18:38:42Z</dcterms:created>
  <dcterms:modified xsi:type="dcterms:W3CDTF">2026-04-19T01:58:05Z</dcterms:modified>
</cp:coreProperties>
</file>